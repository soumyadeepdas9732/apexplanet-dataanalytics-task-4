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Revenue by Customer Segment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by Customer Segment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High Value</c:v>
                </c:pt>
                <c:pt idx="1">
                  <c:v>Medium Value</c:v>
                </c:pt>
                <c:pt idx="2">
                  <c:v>Low Value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81219576.59</c:v>
                </c:pt>
                <c:pt idx="1">
                  <c:v>42243676.77</c:v>
                </c:pt>
                <c:pt idx="2">
                  <c:v>32541180.69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Top Products by Revenue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Top Products by Revenue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Laptop</c:v>
                </c:pt>
                <c:pt idx="1">
                  <c:v>Mobile</c:v>
                </c:pt>
                <c:pt idx="2">
                  <c:v>Book</c:v>
                </c:pt>
                <c:pt idx="3">
                  <c:v>Chair</c:v>
                </c:pt>
                <c:pt idx="4">
                  <c:v>Rice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30215273.25</c:v>
                </c:pt>
                <c:pt idx="1">
                  <c:v>27144090.96</c:v>
                </c:pt>
                <c:pt idx="2">
                  <c:v>26972192.01</c:v>
                </c:pt>
                <c:pt idx="3">
                  <c:v>25118349.4</c:v>
                </c:pt>
                <c:pt idx="4">
                  <c:v>24522949.02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Revenue by Category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by Category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Electronics</c:v>
                </c:pt>
                <c:pt idx="1">
                  <c:v>Education</c:v>
                </c:pt>
                <c:pt idx="2">
                  <c:v>Furniture</c:v>
                </c:pt>
                <c:pt idx="3">
                  <c:v>Grocery</c:v>
                </c:pt>
                <c:pt idx="4">
                  <c:v>Fashion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57359364.21</c:v>
                </c:pt>
                <c:pt idx="1">
                  <c:v>26972192.01</c:v>
                </c:pt>
                <c:pt idx="2">
                  <c:v>25118349.4</c:v>
                </c:pt>
                <c:pt idx="3">
                  <c:v>24522949.02</c:v>
                </c:pt>
                <c:pt idx="4">
                  <c:v>22031579.41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Top Cities by Revenue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Top Cities by Revenue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Patna</c:v>
                </c:pt>
                <c:pt idx="1">
                  <c:v>Mumbai</c:v>
                </c:pt>
                <c:pt idx="2">
                  <c:v>Kolkata</c:v>
                </c:pt>
                <c:pt idx="3">
                  <c:v>Bengaluru</c:v>
                </c:pt>
                <c:pt idx="4">
                  <c:v>Hyderabad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22064469.5</c:v>
                </c:pt>
                <c:pt idx="1">
                  <c:v>21932606.64</c:v>
                </c:pt>
                <c:pt idx="2">
                  <c:v>21231562.15</c:v>
                </c:pt>
                <c:pt idx="3">
                  <c:v>20263769.16</c:v>
                </c:pt>
                <c:pt idx="4">
                  <c:v>19050802.93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Task 4: Data Storytelling &amp; Statistical Validation</a:t>
            </a:r>
          </a:p>
          <a:p>
            <a:pPr>
              <a:defRPr sz="2200"/>
            </a:pPr>
            <a:r>
              <a:t>ApexPlanet Data Analytics Internship</a:t>
            </a:r>
          </a:p>
          <a:p>
            <a:pPr>
              <a:defRPr sz="1600"/>
            </a:pPr>
            <a:r>
              <a:t>From cleaned transaction data to business insights and statistical validation</a:t>
            </a:r>
          </a:p>
          <a:p>
            <a:pPr>
              <a:defRPr sz="1500"/>
            </a:pPr>
            <a:r>
              <a:t>Prepared by: Soumyadeep 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ApexPlanet Data Analytics Internship  •  Task 4  •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Business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Understand sales performance and customer purchasing behavior.</a:t>
            </a:r>
          </a:p>
          <a:p>
            <a:pPr>
              <a:spcAft>
                <a:spcPts val="1000"/>
              </a:spcAft>
              <a:defRPr sz="1900"/>
            </a:pPr>
            <a:r>
              <a:t>Identify the customer, product, category, location, and time dimensions that contribute most to revenue.</a:t>
            </a:r>
          </a:p>
          <a:p>
            <a:pPr>
              <a:spcAft>
                <a:spcPts val="1000"/>
              </a:spcAft>
              <a:defRPr sz="1900"/>
            </a:pPr>
            <a:r>
              <a:t>Use customer segmentation to reveal concentration of customer value.</a:t>
            </a:r>
          </a:p>
          <a:p>
            <a:pPr>
              <a:spcAft>
                <a:spcPts val="1000"/>
              </a:spcAft>
              <a:defRPr sz="1900"/>
            </a:pPr>
            <a:r>
              <a:t>Validate an observed customer-group difference with an appropriate statistical test.</a:t>
            </a:r>
          </a:p>
          <a:p>
            <a:pPr>
              <a:spcAft>
                <a:spcPts val="1000"/>
              </a:spcAft>
              <a:defRPr sz="1900"/>
            </a:pPr>
            <a:r>
              <a:t>Translate the analysis into practical, evidence-based business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ApexPlanet Data Analytics Internship  •  Task 4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Analysis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Tasks 1–4 form one continuous analytics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Task 1 — Data Immersion &amp; Wrangling: cleaned, standardized, transformed, and documented the dataset.</a:t>
            </a:r>
          </a:p>
          <a:p>
            <a:pPr>
              <a:spcAft>
                <a:spcPts val="1000"/>
              </a:spcAft>
              <a:defRPr sz="1800"/>
            </a:pPr>
            <a:r>
              <a:t>Task 2 — EDA &amp; Business Intelligence: descriptive analysis, SQL business questions, correlations, and dashboarding.</a:t>
            </a:r>
          </a:p>
          <a:p>
            <a:pPr>
              <a:spcAft>
                <a:spcPts val="1000"/>
              </a:spcAft>
              <a:defRPr sz="1800"/>
            </a:pPr>
            <a:r>
              <a:t>Task 3 — Deep-Dive Analysis: core KPIs, customer segmentation, product/category/city analysis, and dashboard data.</a:t>
            </a:r>
          </a:p>
          <a:p>
            <a:pPr>
              <a:spcAft>
                <a:spcPts val="1000"/>
              </a:spcAft>
              <a:defRPr sz="1800"/>
            </a:pPr>
            <a:r>
              <a:t>Task 4 — Storytelling &amp; Validation: synthesize the findings and statistically test a business hypothesis.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ApexPlanet Data Analytics Internship  •  Task 4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Core Business KPIs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08760"/>
            <a:ext cx="2148840" cy="123444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Total Revenue</a:t>
            </a:r>
          </a:p>
          <a:p>
            <a:pPr algn="ctr">
              <a:defRPr sz="2100" b="1"/>
            </a:pPr>
            <a:r>
              <a:t>₹156,004,434.05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34640" y="1508760"/>
            <a:ext cx="1920240" cy="123444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Total Orders</a:t>
            </a:r>
          </a:p>
          <a:p>
            <a:pPr algn="ctr">
              <a:defRPr sz="2100" b="1"/>
            </a:pPr>
            <a:r>
              <a:t>992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92040" y="1508760"/>
            <a:ext cx="2148840" cy="123444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Average Order Value</a:t>
            </a:r>
          </a:p>
          <a:p>
            <a:pPr algn="ctr">
              <a:defRPr sz="2100" b="1"/>
            </a:pPr>
            <a:r>
              <a:t>₹157,262.53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1508760"/>
            <a:ext cx="1920240" cy="123444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Unique Customers</a:t>
            </a:r>
          </a:p>
          <a:p>
            <a:pPr algn="ctr">
              <a:defRPr sz="2100" b="1"/>
            </a:pPr>
            <a:r>
              <a:t>947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1508760"/>
            <a:ext cx="2377440" cy="123444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Revenue / Customer</a:t>
            </a:r>
          </a:p>
          <a:p>
            <a:pPr algn="ctr">
              <a:defRPr sz="2100" b="1"/>
            </a:pPr>
            <a:r>
              <a:t>₹164,735.41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These KPIs summarize overall scale, transaction activity, and customer value.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ApexPlanet Data Analytics Internship  •  Task 4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Customer Segmentation: The Main Deep-Dive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371600"/>
          <a:ext cx="557784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92240" y="1554480"/>
            <a:ext cx="50292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High Value customers generated ₹81,219,576.59.</a:t>
            </a:r>
          </a:p>
          <a:p>
            <a:pPr>
              <a:spcAft>
                <a:spcPts val="1000"/>
              </a:spcAft>
              <a:defRPr sz="1700"/>
            </a:pPr>
            <a:r>
              <a:t>They contributed approximately 52.1% of total revenue.</a:t>
            </a:r>
          </a:p>
          <a:p>
            <a:pPr>
              <a:spcAft>
                <a:spcPts val="1000"/>
              </a:spcAft>
              <a:defRPr sz="1700"/>
            </a:pPr>
            <a:r>
              <a:t>The segment contains 246 unique customers.</a:t>
            </a:r>
          </a:p>
          <a:p>
            <a:pPr>
              <a:spcAft>
                <a:spcPts val="1000"/>
              </a:spcAft>
              <a:defRPr sz="1700"/>
            </a:pPr>
            <a:r>
              <a:t>This concentration makes retention of high-value customers strategically important.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ApexPlanet Data Analytics Internship  •  Task 4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Product, Category &amp; Geographic Performance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02920" y="1325880"/>
          <a:ext cx="36576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297680" y="1325880"/>
          <a:ext cx="365760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092440" y="1325880"/>
          <a:ext cx="3566160" cy="42062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510528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ApexPlanet Data Analytics Internship  •  Task 4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Key Findings from the Business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Top product: Laptop — ₹30,215,273.25 revenue.</a:t>
            </a:r>
          </a:p>
          <a:p>
            <a:pPr>
              <a:spcAft>
                <a:spcPts val="1000"/>
              </a:spcAft>
              <a:defRPr sz="1900"/>
            </a:pPr>
            <a:r>
              <a:t>Top category: Electronics — ₹57,359,364.21 revenue.</a:t>
            </a:r>
          </a:p>
          <a:p>
            <a:pPr>
              <a:spcAft>
                <a:spcPts val="1000"/>
              </a:spcAft>
              <a:defRPr sz="1900"/>
            </a:pPr>
            <a:r>
              <a:t>Top city: Patna — ₹22,064,469.50 revenue.</a:t>
            </a:r>
          </a:p>
          <a:p>
            <a:pPr>
              <a:spcAft>
                <a:spcPts val="1000"/>
              </a:spcAft>
              <a:defRPr sz="1900"/>
            </a:pPr>
            <a:r>
              <a:t>Best-performing month: 2025-03 — ₹14,972,050.97 revenue.</a:t>
            </a:r>
          </a:p>
          <a:p>
            <a:pPr>
              <a:spcAft>
                <a:spcPts val="1000"/>
              </a:spcAft>
              <a:defRPr sz="1900"/>
            </a:pPr>
            <a:r>
              <a:t>High Value customers generated about 52.1% of total revenue, making customer concentration a central business finding.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ApexPlanet Data Analytics Internship  •  Task 4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Hypothesis Test: Does Average Sales Differ by Gender?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H₀: Mean Total_Sales is the same for male and female groups.</a:t>
            </a:r>
          </a:p>
          <a:p>
            <a:pPr>
              <a:spcAft>
                <a:spcPts val="1000"/>
              </a:spcAft>
              <a:defRPr sz="1800"/>
            </a:pPr>
            <a:r>
              <a:t>H₁: Mean Total_Sales differs between male and female groups.</a:t>
            </a:r>
          </a:p>
          <a:p>
            <a:pPr>
              <a:spcAft>
                <a:spcPts val="1000"/>
              </a:spcAft>
              <a:defRPr sz="1800"/>
            </a:pPr>
            <a:r>
              <a:t>Method: Welch’s independent-samples t-test.</a:t>
            </a:r>
          </a:p>
          <a:p>
            <a:pPr>
              <a:spcAft>
                <a:spcPts val="1000"/>
              </a:spcAft>
              <a:defRPr sz="1800"/>
            </a:pPr>
            <a:r>
              <a:t>Significance level: α = 0.05.</a:t>
            </a:r>
          </a:p>
          <a:p>
            <a:pPr>
              <a:spcAft>
                <a:spcPts val="1000"/>
              </a:spcAft>
              <a:defRPr sz="1800"/>
            </a:pPr>
            <a:r>
              <a:t>Male observations: 564  |  Female observations: 544</a:t>
            </a:r>
          </a:p>
          <a:p>
            <a:pPr>
              <a:spcAft>
                <a:spcPts val="1000"/>
              </a:spcAft>
              <a:defRPr sz="1800"/>
            </a:pPr>
            <a:r>
              <a:t>Male mean: ₹142,493.70  |  Female mean: ₹139,040.42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ApexPlanet Data Analytics Internship  •  Task 4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Statistical Result &amp; Business Interpretation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2377440" cy="123444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t-statistic</a:t>
            </a:r>
          </a:p>
          <a:p>
            <a:pPr algn="ctr">
              <a:defRPr sz="2100" b="1"/>
            </a:pPr>
            <a:r>
              <a:t>0.500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417320"/>
            <a:ext cx="2377440" cy="123444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p-value</a:t>
            </a:r>
          </a:p>
          <a:p>
            <a:pPr algn="ctr">
              <a:defRPr sz="2100" b="1"/>
            </a:pPr>
            <a:r>
              <a:t>0.6171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17320"/>
            <a:ext cx="2377440" cy="123444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Mean Difference</a:t>
            </a:r>
          </a:p>
          <a:p>
            <a:pPr algn="ctr">
              <a:defRPr sz="2100" b="1"/>
            </a:pPr>
            <a:r>
              <a:t>₹3,453.28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417320"/>
            <a:ext cx="2743200" cy="123444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95% CI</a:t>
            </a:r>
          </a:p>
          <a:p>
            <a:pPr algn="ctr">
              <a:defRPr sz="2100" b="1"/>
            </a:pPr>
            <a:r>
              <a:t>₹-10,095 to ₹17,001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105156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Decision: Fail to reject H₀.</a:t>
            </a:r>
          </a:p>
          <a:p>
            <a:pPr>
              <a:spcAft>
                <a:spcPts val="1000"/>
              </a:spcAft>
              <a:defRPr sz="1800"/>
            </a:pPr>
            <a:r>
              <a:t>The data do not provide sufficient evidence of a difference in average Total_Sales between the two gender groups.</a:t>
            </a:r>
          </a:p>
          <a:p>
            <a:pPr>
              <a:spcAft>
                <a:spcPts val="1000"/>
              </a:spcAft>
              <a:defRPr sz="1800"/>
            </a:pPr>
            <a:r>
              <a:t>The confidence interval includes zero, which is consistent with the test result.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ApexPlanet Data Analytics Internship  •  Task 4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Recommendations &amp; Call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Prioritize retention initiatives for High Value customers because they contribute a large share of revenue.</a:t>
            </a:r>
          </a:p>
          <a:p>
            <a:pPr>
              <a:spcAft>
                <a:spcPts val="1000"/>
              </a:spcAft>
              <a:defRPr sz="1700"/>
            </a:pPr>
            <a:r>
              <a:t>Develop Medium Value customers through targeted promotions, cross-selling, and relevant product recommendations.</a:t>
            </a:r>
          </a:p>
          <a:p>
            <a:pPr>
              <a:spcAft>
                <a:spcPts val="1000"/>
              </a:spcAft>
              <a:defRPr sz="1700"/>
            </a:pPr>
            <a:r>
              <a:t>Maintain strong availability and promotion for Laptop and the Electronics category.</a:t>
            </a:r>
          </a:p>
          <a:p>
            <a:pPr>
              <a:spcAft>
                <a:spcPts val="1000"/>
              </a:spcAft>
              <a:defRPr sz="1700"/>
            </a:pPr>
            <a:r>
              <a:t>Monitor strong markets such as Patna while investigating opportunities in lower-performing locations.</a:t>
            </a:r>
          </a:p>
          <a:p>
            <a:pPr>
              <a:spcAft>
                <a:spcPts val="1000"/>
              </a:spcAft>
              <a:defRPr sz="1700"/>
            </a:pPr>
            <a:r>
              <a:t>Use monthly KPI monitoring to support inventory and campaign planning.</a:t>
            </a:r>
          </a:p>
          <a:p>
            <a:pPr>
              <a:spcAft>
                <a:spcPts val="1000"/>
              </a:spcAft>
              <a:defRPr sz="1700"/>
            </a:pPr>
            <a:r>
              <a:t>Do not base gender-targeted sales decisions on this test alone; the observed mean difference was not statistically significant at α = 0.05.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ApexPlanet Data Analytics Internship  •  Task 4  •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